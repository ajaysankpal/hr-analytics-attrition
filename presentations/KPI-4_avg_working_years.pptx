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3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3" r:id="rId1"/>
  </p:sldMasterIdLst>
  <p:notesMasterIdLst>
    <p:notesMasterId r:id="rId6"/>
  </p:notesMasterIdLst>
  <p:handoutMasterIdLst>
    <p:handoutMasterId r:id="rId7"/>
  </p:handoutMasterIdLst>
  <p:sldIdLst>
    <p:sldId id="296" r:id="rId2"/>
    <p:sldId id="301" r:id="rId3"/>
    <p:sldId id="298" r:id="rId4"/>
    <p:sldId id="297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92C48"/>
    <a:srgbClr val="2C2D39"/>
    <a:srgbClr val="242630"/>
    <a:srgbClr val="2A1F43"/>
    <a:srgbClr val="0C1B43"/>
    <a:srgbClr val="000000"/>
    <a:srgbClr val="1D2225"/>
    <a:srgbClr val="F8F8F8"/>
    <a:srgbClr val="363C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030" autoAdjust="0"/>
    <p:restoredTop sz="90551" autoAdjust="0"/>
  </p:normalViewPr>
  <p:slideViewPr>
    <p:cSldViewPr snapToGrid="0" snapToObjects="1">
      <p:cViewPr varScale="1">
        <p:scale>
          <a:sx n="80" d="100"/>
          <a:sy n="80" d="100"/>
        </p:scale>
        <p:origin x="15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86" d="100"/>
          <a:sy n="86" d="100"/>
        </p:scale>
        <p:origin x="2416" y="21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 u="sng" dirty="0">
                <a:solidFill>
                  <a:srgbClr val="FF0000"/>
                </a:solidFill>
              </a:rPr>
              <a:t>Monthly Income Vs Attrition Rate</a:t>
            </a:r>
          </a:p>
        </c:rich>
      </c:tx>
      <c:layout>
        <c:manualLayout>
          <c:xMode val="edge"/>
          <c:yMode val="edge"/>
          <c:x val="0.22545454545454544"/>
          <c:y val="6.862545112646284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mr-IN"/>
        </a:p>
      </c:txPr>
    </c:title>
    <c:autoTitleDeleted val="0"/>
    <c:plotArea>
      <c:layout>
        <c:manualLayout>
          <c:layoutTarget val="inner"/>
          <c:xMode val="edge"/>
          <c:yMode val="edge"/>
          <c:x val="0.22381559986621363"/>
          <c:y val="0.2452902503420176"/>
          <c:w val="0.64288078321293607"/>
          <c:h val="0.5756061995259903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Attrition Rate</c:v>
                </c:pt>
              </c:strCache>
            </c:strRef>
          </c:tx>
          <c:spPr>
            <a:solidFill>
              <a:schemeClr val="accent1"/>
            </a:solidFill>
            <a:ln w="19050">
              <a:solidFill>
                <a:schemeClr val="lt1"/>
              </a:solidFill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4-F89F-4EAF-9EE3-582420DF8186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F89F-4EAF-9EE3-582420DF8186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F89F-4EAF-9EE3-582420DF8186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F89F-4EAF-9EE3-582420DF8186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mr-I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3"/>
                <c:pt idx="0">
                  <c:v>1k-20k</c:v>
                </c:pt>
                <c:pt idx="1">
                  <c:v>21k-40k</c:v>
                </c:pt>
                <c:pt idx="2">
                  <c:v>41k-60k</c:v>
                </c:pt>
              </c:strCache>
            </c:strRef>
          </c:cat>
          <c:val>
            <c:numRef>
              <c:f>Sheet1!$B$2:$B$5</c:f>
              <c:numCache>
                <c:formatCode>0.00%</c:formatCode>
                <c:ptCount val="4"/>
                <c:pt idx="0">
                  <c:v>0.38020314678350925</c:v>
                </c:pt>
                <c:pt idx="1">
                  <c:v>0.40119498107946622</c:v>
                </c:pt>
                <c:pt idx="2">
                  <c:v>0.21860187213702451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89F-4EAF-9EE3-582420DF8186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axId val="1623560272"/>
        <c:axId val="1959371472"/>
      </c:barChart>
      <c:catAx>
        <c:axId val="1623560272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/>
                  <a:t>Monthly Income Groupwise</a:t>
                </a:r>
              </a:p>
            </c:rich>
          </c:tx>
          <c:layout>
            <c:manualLayout>
              <c:xMode val="edge"/>
              <c:yMode val="edge"/>
              <c:x val="0.34267153882461793"/>
              <c:y val="0.91688639612362699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mr-IN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mr-IN"/>
          </a:p>
        </c:txPr>
        <c:crossAx val="1959371472"/>
        <c:auto val="1"/>
        <c:lblAlgn val="ctr"/>
        <c:lblOffset val="100"/>
        <c:noMultiLvlLbl val="0"/>
      </c:catAx>
      <c:valAx>
        <c:axId val="1959371472"/>
        <c:scaling>
          <c:orientation val="minMax"/>
        </c:scaling>
        <c:delete val="1"/>
        <c:axPos val="l"/>
        <c:numFmt formatCode="0.00%" sourceLinked="1"/>
        <c:majorTickMark val="out"/>
        <c:minorTickMark val="none"/>
        <c:tickLblPos val="nextTo"/>
        <c:crossAx val="1623560272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mr-IN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 u="sng" dirty="0">
                <a:solidFill>
                  <a:srgbClr val="FF0000"/>
                </a:solidFill>
              </a:rPr>
              <a:t>Attrition Rate Vs year since last promotion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mr-IN"/>
        </a:p>
      </c:txPr>
    </c:title>
    <c:autoTitleDeleted val="0"/>
    <c:plotArea>
      <c:layout>
        <c:manualLayout>
          <c:layoutTarget val="inner"/>
          <c:xMode val="edge"/>
          <c:yMode val="edge"/>
          <c:x val="0.28733286862365703"/>
          <c:y val="0.24283934137321533"/>
          <c:w val="0.37293239099380143"/>
          <c:h val="0.57560619952599035"/>
        </c:manualLayout>
      </c:layout>
      <c:pieChart>
        <c:varyColors val="1"/>
        <c:dLbls>
          <c:showLegendKey val="0"/>
          <c:showVal val="1"/>
          <c:showCatName val="1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mr-IN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 u="sng" dirty="0">
                <a:solidFill>
                  <a:srgbClr val="FF0000"/>
                </a:solidFill>
              </a:rPr>
              <a:t>Monthly Income Vs Attrition Rate</a:t>
            </a:r>
          </a:p>
        </c:rich>
      </c:tx>
      <c:layout>
        <c:manualLayout>
          <c:xMode val="edge"/>
          <c:yMode val="edge"/>
          <c:x val="0.22545454545454544"/>
          <c:y val="6.862545112646284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mr-IN"/>
        </a:p>
      </c:txPr>
    </c:title>
    <c:autoTitleDeleted val="0"/>
    <c:plotArea>
      <c:layout>
        <c:manualLayout>
          <c:layoutTarget val="inner"/>
          <c:xMode val="edge"/>
          <c:yMode val="edge"/>
          <c:x val="0.22381559986621363"/>
          <c:y val="0.2452902503420176"/>
          <c:w val="0.64288078321293607"/>
          <c:h val="0.5756061995259903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Attrition Rate</c:v>
                </c:pt>
              </c:strCache>
            </c:strRef>
          </c:tx>
          <c:spPr>
            <a:solidFill>
              <a:schemeClr val="accent1"/>
            </a:solidFill>
            <a:ln w="19050">
              <a:solidFill>
                <a:schemeClr val="lt1"/>
              </a:solidFill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BEAA-4BE1-8A7F-2A9BC4BA969F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BEAA-4BE1-8A7F-2A9BC4BA969F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BEAA-4BE1-8A7F-2A9BC4BA969F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BEAA-4BE1-8A7F-2A9BC4BA969F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mr-I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3"/>
                <c:pt idx="0">
                  <c:v>1k-20k</c:v>
                </c:pt>
                <c:pt idx="1">
                  <c:v>21k-40k</c:v>
                </c:pt>
                <c:pt idx="2">
                  <c:v>41k-60k</c:v>
                </c:pt>
              </c:strCache>
            </c:strRef>
          </c:cat>
          <c:val>
            <c:numRef>
              <c:f>Sheet1!$B$2:$B$5</c:f>
              <c:numCache>
                <c:formatCode>0.00%</c:formatCode>
                <c:ptCount val="4"/>
                <c:pt idx="0">
                  <c:v>0.38020314678350925</c:v>
                </c:pt>
                <c:pt idx="1">
                  <c:v>0.40119498107946622</c:v>
                </c:pt>
                <c:pt idx="2">
                  <c:v>0.21860187213702451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BEAA-4BE1-8A7F-2A9BC4BA969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axId val="1623560272"/>
        <c:axId val="1959371472"/>
      </c:barChart>
      <c:catAx>
        <c:axId val="1623560272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/>
                  <a:t>Monthly Income Groupwise</a:t>
                </a:r>
              </a:p>
            </c:rich>
          </c:tx>
          <c:layout>
            <c:manualLayout>
              <c:xMode val="edge"/>
              <c:yMode val="edge"/>
              <c:x val="0.34267153882461793"/>
              <c:y val="0.91688639612362699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mr-IN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mr-IN"/>
          </a:p>
        </c:txPr>
        <c:crossAx val="1959371472"/>
        <c:crosses val="autoZero"/>
        <c:auto val="1"/>
        <c:lblAlgn val="ctr"/>
        <c:lblOffset val="100"/>
        <c:noMultiLvlLbl val="0"/>
      </c:catAx>
      <c:valAx>
        <c:axId val="1959371472"/>
        <c:scaling>
          <c:orientation val="minMax"/>
        </c:scaling>
        <c:delete val="1"/>
        <c:axPos val="l"/>
        <c:numFmt formatCode="0.00%" sourceLinked="1"/>
        <c:majorTickMark val="out"/>
        <c:minorTickMark val="none"/>
        <c:tickLblPos val="nextTo"/>
        <c:crossAx val="162356027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mr-I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D5A2E05-2C6E-484E-9BB1-366C90717B9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2043844-B7FE-EC43-89AA-8831B859F94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B138B2-18CD-1D41-89B0-ADB5F3BA92A3}" type="datetimeFigureOut">
              <a:rPr lang="en-US" smtClean="0"/>
              <a:t>11/30/2023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FAC2EDC-03FB-D147-9BAA-37FCFF988C7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8E195D-E935-D746-A5D1-61E2EBF7EF6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57D167-9BB5-2048-9DDA-7DF8E5D94D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751213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E7A355-8776-CB43-838E-ED9EE2F8390B}" type="datetimeFigureOut">
              <a:rPr lang="en-US" smtClean="0"/>
              <a:t>11/30/2023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303FA8-A3F3-7640-B13D-36C73B3E558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01785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303FA8-A3F3-7640-B13D-36C73B3E5587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50113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303FA8-A3F3-7640-B13D-36C73B3E5587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68668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303FA8-A3F3-7640-B13D-36C73B3E5587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70637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bg1">
            <a:alpha val="3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CC33A90-B87E-634E-AF2A-F4C3C8923FED}"/>
              </a:ext>
            </a:extLst>
          </p:cNvPr>
          <p:cNvSpPr/>
          <p:nvPr userDrawn="1"/>
        </p:nvSpPr>
        <p:spPr>
          <a:xfrm>
            <a:off x="0" y="914400"/>
            <a:ext cx="12192000" cy="5029200"/>
          </a:xfrm>
          <a:prstGeom prst="rect">
            <a:avLst/>
          </a:prstGeom>
          <a:pattFill prst="lgGrid">
            <a:fgClr>
              <a:schemeClr val="tx2">
                <a:lumMod val="10000"/>
                <a:lumOff val="9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1147E0E-4AE4-D149-A315-F2528623D5EA}"/>
              </a:ext>
            </a:extLst>
          </p:cNvPr>
          <p:cNvSpPr/>
          <p:nvPr userDrawn="1"/>
        </p:nvSpPr>
        <p:spPr>
          <a:xfrm>
            <a:off x="763425" y="2818150"/>
            <a:ext cx="6207001" cy="257181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2">
            <a:extLst>
              <a:ext uri="{FF2B5EF4-FFF2-40B4-BE49-F238E27FC236}">
                <a16:creationId xmlns:a16="http://schemas.microsoft.com/office/drawing/2014/main" id="{AA222472-5BC8-7B4F-AB2F-B6A10019B60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105150" y="356076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E3ED0903-C4AC-F843-878E-D66CB7BFB0E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08430" y="3267744"/>
            <a:ext cx="5651293" cy="1086304"/>
          </a:xfrm>
          <a:prstGeom prst="rect">
            <a:avLst/>
          </a:prstGeom>
        </p:spPr>
        <p:txBody>
          <a:bodyPr lIns="91440" rIns="91440" anchor="ctr" anchorCtr="0">
            <a:noAutofit/>
          </a:bodyPr>
          <a:lstStyle>
            <a:lvl1pPr algn="l">
              <a:defRPr sz="8800" b="1" i="0" spc="150" baseline="0">
                <a:solidFill>
                  <a:schemeClr val="tx1"/>
                </a:solidFill>
                <a:latin typeface="+mj-lt"/>
                <a:ea typeface="Meiryo UI" panose="020B0604030504040204" pitchFamily="34" charset="-128"/>
              </a:defRPr>
            </a:lvl1pPr>
          </a:lstStyle>
          <a:p>
            <a:r>
              <a:rPr lang="en-US" noProof="0" dirty="0"/>
              <a:t>Title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C8F278E7-697F-D34E-BB55-5D254AF87F9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923125" y="0"/>
            <a:ext cx="6268875" cy="6858000"/>
          </a:xfrm>
          <a:custGeom>
            <a:avLst/>
            <a:gdLst>
              <a:gd name="connsiteX0" fmla="*/ 0 w 6268875"/>
              <a:gd name="connsiteY0" fmla="*/ 0 h 6858000"/>
              <a:gd name="connsiteX1" fmla="*/ 6268875 w 6268875"/>
              <a:gd name="connsiteY1" fmla="*/ 0 h 6858000"/>
              <a:gd name="connsiteX2" fmla="*/ 6268875 w 6268875"/>
              <a:gd name="connsiteY2" fmla="*/ 6858000 h 6858000"/>
              <a:gd name="connsiteX3" fmla="*/ 0 w 6268875"/>
              <a:gd name="connsiteY3" fmla="*/ 6858000 h 6858000"/>
              <a:gd name="connsiteX4" fmla="*/ 0 w 6268875"/>
              <a:gd name="connsiteY4" fmla="*/ 5389964 h 6858000"/>
              <a:gd name="connsiteX5" fmla="*/ 1047301 w 6268875"/>
              <a:gd name="connsiteY5" fmla="*/ 5389964 h 6858000"/>
              <a:gd name="connsiteX6" fmla="*/ 1047301 w 6268875"/>
              <a:gd name="connsiteY6" fmla="*/ 2814404 h 6858000"/>
              <a:gd name="connsiteX7" fmla="*/ 0 w 6268875"/>
              <a:gd name="connsiteY7" fmla="*/ 28144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268875" h="6858000">
                <a:moveTo>
                  <a:pt x="0" y="0"/>
                </a:moveTo>
                <a:lnTo>
                  <a:pt x="6268875" y="0"/>
                </a:lnTo>
                <a:lnTo>
                  <a:pt x="6268875" y="6858000"/>
                </a:lnTo>
                <a:lnTo>
                  <a:pt x="0" y="6858000"/>
                </a:lnTo>
                <a:lnTo>
                  <a:pt x="0" y="5389964"/>
                </a:lnTo>
                <a:lnTo>
                  <a:pt x="1047301" y="5389964"/>
                </a:lnTo>
                <a:lnTo>
                  <a:pt x="1047301" y="2814404"/>
                </a:lnTo>
                <a:lnTo>
                  <a:pt x="0" y="2814404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2719C4-9998-4B9C-8E34-87A64F6BCDA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24261" y="4354048"/>
            <a:ext cx="5651500" cy="704088"/>
          </a:xfrm>
        </p:spPr>
        <p:txBody>
          <a:bodyPr anchor="ctr">
            <a:normAutofit/>
          </a:bodyPr>
          <a:lstStyle>
            <a:lvl1pPr marL="0" indent="0">
              <a:buNone/>
              <a:defRPr sz="2400" b="1" i="0" cap="all" spc="600" baseline="0"/>
            </a:lvl1pPr>
          </a:lstStyle>
          <a:p>
            <a:pPr lvl="0"/>
            <a:r>
              <a:rPr lang="en-US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1479827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">
    <p:bg>
      <p:bgPr>
        <a:solidFill>
          <a:schemeClr val="bg2">
            <a:alpha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9FBA462-7E60-BA4E-9A1E-3B5E69DACB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CCE73A-EC7C-C74F-BDE1-B9AFE6B3713A}" type="datetimeFigureOut">
              <a:rPr lang="en-US" smtClean="0"/>
              <a:t>11/30/2023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18A28A8-5C75-FC4B-9A28-8F343DF4B1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FD5A6F-AE17-4E4C-9567-DB3B02853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05D35-D126-3B47-A82C-2A13EA9E0A67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9B59AC0-ACCA-0548-A037-BC61068B8FE2}"/>
              </a:ext>
            </a:extLst>
          </p:cNvPr>
          <p:cNvSpPr/>
          <p:nvPr userDrawn="1"/>
        </p:nvSpPr>
        <p:spPr>
          <a:xfrm>
            <a:off x="0" y="0"/>
            <a:ext cx="12192000" cy="986306"/>
          </a:xfrm>
          <a:prstGeom prst="rect">
            <a:avLst/>
          </a:prstGeom>
          <a:pattFill prst="lgGrid">
            <a:fgClr>
              <a:schemeClr val="tx2">
                <a:lumMod val="10000"/>
                <a:lumOff val="9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A57C152-0331-B74F-81FE-04A927A72C7B}"/>
              </a:ext>
            </a:extLst>
          </p:cNvPr>
          <p:cNvSpPr/>
          <p:nvPr userDrawn="1"/>
        </p:nvSpPr>
        <p:spPr>
          <a:xfrm>
            <a:off x="350520" y="279792"/>
            <a:ext cx="11475720" cy="98630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rtlCol="0" anchor="ctr"/>
          <a:lstStyle/>
          <a:p>
            <a:endParaRPr lang="en-US" sz="2400" b="1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FDDD9A4-1691-5D47-9605-21650E2212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413" y="483440"/>
            <a:ext cx="10904438" cy="583800"/>
          </a:xfrm>
          <a:prstGeom prst="rect">
            <a:avLst/>
          </a:prstGeom>
        </p:spPr>
        <p:txBody>
          <a:bodyPr lIns="91440" rIns="91440">
            <a:noAutofit/>
          </a:bodyPr>
          <a:lstStyle>
            <a:lvl1pPr>
              <a:defRPr sz="2400" b="1" i="0" spc="150" baseline="0">
                <a:solidFill>
                  <a:schemeClr val="tx1"/>
                </a:solidFill>
                <a:latin typeface="+mj-lt"/>
                <a:ea typeface="Meiryo UI" panose="020B0604030504040204" pitchFamily="34" charset="-128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6B69B4E-3A48-4F14-8C09-ECC8E58C732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9763" y="1470025"/>
            <a:ext cx="10904088" cy="47069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96307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ntent ">
    <p:bg>
      <p:bgPr>
        <a:solidFill>
          <a:schemeClr val="bg2">
            <a:alpha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87C56A2-F952-8343-A875-78793BA51A34}"/>
              </a:ext>
            </a:extLst>
          </p:cNvPr>
          <p:cNvSpPr/>
          <p:nvPr userDrawn="1"/>
        </p:nvSpPr>
        <p:spPr>
          <a:xfrm>
            <a:off x="0" y="5871694"/>
            <a:ext cx="12192000" cy="986306"/>
          </a:xfrm>
          <a:prstGeom prst="rect">
            <a:avLst/>
          </a:prstGeom>
          <a:pattFill prst="lgGrid">
            <a:fgClr>
              <a:schemeClr val="tx1">
                <a:lumMod val="10000"/>
                <a:lumOff val="9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1BB3689-72F8-2345-BF30-38C81BDD487E}"/>
              </a:ext>
            </a:extLst>
          </p:cNvPr>
          <p:cNvSpPr/>
          <p:nvPr userDrawn="1"/>
        </p:nvSpPr>
        <p:spPr>
          <a:xfrm>
            <a:off x="5002306" y="0"/>
            <a:ext cx="7189694" cy="6858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9FBA462-7E60-BA4E-9A1E-3B5E69DACB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CCE73A-EC7C-C74F-BDE1-B9AFE6B3713A}" type="datetimeFigureOut">
              <a:rPr lang="en-US" smtClean="0"/>
              <a:t>11/30/2023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18A28A8-5C75-FC4B-9A28-8F343DF4B1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FD5A6F-AE17-4E4C-9567-DB3B02853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05D35-D126-3B47-A82C-2A13EA9E0A67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656FB1BA-653F-254C-9C39-2A5BDD763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61117" y="681037"/>
            <a:ext cx="4791637" cy="583800"/>
          </a:xfrm>
          <a:prstGeom prst="rect">
            <a:avLst/>
          </a:prstGeom>
        </p:spPr>
        <p:txBody>
          <a:bodyPr lIns="91440" rIns="91440">
            <a:noAutofit/>
          </a:bodyPr>
          <a:lstStyle>
            <a:lvl1pPr>
              <a:defRPr sz="2400" b="1" i="0" spc="150" baseline="0">
                <a:solidFill>
                  <a:schemeClr val="tx1"/>
                </a:solidFill>
                <a:latin typeface="+mj-lt"/>
                <a:ea typeface="Meiryo UI" panose="020B0604030504040204" pitchFamily="34" charset="-128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CB2BF900-EE78-604F-A9A8-83394228A68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42925" y="571500"/>
            <a:ext cx="5553075" cy="5715000"/>
          </a:xfrm>
          <a:prstGeom prst="rect">
            <a:avLst/>
          </a:prstGeom>
          <a:solidFill>
            <a:schemeClr val="tx1"/>
          </a:solidFill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C4C04996-C3BC-4E03-A361-2BA33F3CA30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761163" y="1265238"/>
            <a:ext cx="4791591" cy="4911725"/>
          </a:xfrm>
        </p:spPr>
        <p:txBody>
          <a:bodyPr/>
          <a:lstStyle>
            <a:lvl1pPr>
              <a:lnSpc>
                <a:spcPct val="200000"/>
              </a:lnSpc>
              <a:spcBef>
                <a:spcPts val="1000"/>
              </a:spcBef>
              <a:buClrTx/>
              <a:defRPr/>
            </a:lvl1pPr>
            <a:lvl2pPr>
              <a:lnSpc>
                <a:spcPct val="200000"/>
              </a:lnSpc>
              <a:spcBef>
                <a:spcPts val="1000"/>
              </a:spcBef>
              <a:buClrTx/>
              <a:defRPr/>
            </a:lvl2pPr>
            <a:lvl3pPr>
              <a:lnSpc>
                <a:spcPct val="200000"/>
              </a:lnSpc>
              <a:spcBef>
                <a:spcPts val="1000"/>
              </a:spcBef>
              <a:buClrTx/>
              <a:defRPr/>
            </a:lvl3pPr>
            <a:lvl4pPr>
              <a:lnSpc>
                <a:spcPct val="200000"/>
              </a:lnSpc>
              <a:spcBef>
                <a:spcPts val="1000"/>
              </a:spcBef>
              <a:buClrTx/>
              <a:defRPr/>
            </a:lvl4pPr>
            <a:lvl5pPr>
              <a:lnSpc>
                <a:spcPct val="200000"/>
              </a:lnSpc>
              <a:spcBef>
                <a:spcPts val="1000"/>
              </a:spcBef>
              <a:buClrTx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592690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solidFill>
          <a:schemeClr val="bg2">
            <a:alpha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F2F96941-79C9-A34B-8AB5-C167A4D72D51}"/>
              </a:ext>
            </a:extLst>
          </p:cNvPr>
          <p:cNvSpPr/>
          <p:nvPr userDrawn="1"/>
        </p:nvSpPr>
        <p:spPr>
          <a:xfrm>
            <a:off x="0" y="0"/>
            <a:ext cx="12192000" cy="986306"/>
          </a:xfrm>
          <a:prstGeom prst="rect">
            <a:avLst/>
          </a:prstGeom>
          <a:pattFill prst="lgGrid">
            <a:fgClr>
              <a:schemeClr val="tx1">
                <a:lumMod val="10000"/>
                <a:lumOff val="9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9FBA462-7E60-BA4E-9A1E-3B5E69DACB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CCE73A-EC7C-C74F-BDE1-B9AFE6B3713A}" type="datetimeFigureOut">
              <a:rPr lang="en-US" noProof="0" smtClean="0"/>
              <a:t>11/30/2023</a:t>
            </a:fld>
            <a:endParaRPr lang="en-US" noProof="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18A28A8-5C75-FC4B-9A28-8F343DF4B1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FD5A6F-AE17-4E4C-9567-DB3B02853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05D35-D126-3B47-A82C-2A13EA9E0A67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A57C152-0331-B74F-81FE-04A927A72C7B}"/>
              </a:ext>
            </a:extLst>
          </p:cNvPr>
          <p:cNvSpPr/>
          <p:nvPr userDrawn="1"/>
        </p:nvSpPr>
        <p:spPr>
          <a:xfrm>
            <a:off x="350520" y="279792"/>
            <a:ext cx="11475720" cy="98630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rtlCol="0" anchor="ctr"/>
          <a:lstStyle/>
          <a:p>
            <a:endParaRPr lang="en-US" sz="2400" b="1" noProof="0" dirty="0">
              <a:solidFill>
                <a:schemeClr val="bg1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FDDD9A4-1691-5D47-9605-21650E2212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413" y="483440"/>
            <a:ext cx="10904438" cy="583800"/>
          </a:xfrm>
          <a:prstGeom prst="rect">
            <a:avLst/>
          </a:prstGeom>
        </p:spPr>
        <p:txBody>
          <a:bodyPr lIns="91440" rIns="91440">
            <a:noAutofit/>
          </a:bodyPr>
          <a:lstStyle>
            <a:lvl1pPr>
              <a:defRPr sz="2400" b="1" i="0" spc="150" baseline="0">
                <a:solidFill>
                  <a:schemeClr val="tx1"/>
                </a:solidFill>
                <a:latin typeface="+mj-lt"/>
                <a:ea typeface="Meiryo UI" panose="020B0604030504040204" pitchFamily="34" charset="-128"/>
              </a:defRPr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62F811A9-08B1-C746-B30D-69D7B4A6CD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1" y="2038570"/>
            <a:ext cx="5042646" cy="703135"/>
          </a:xfrm>
          <a:prstGeom prst="rect">
            <a:avLst/>
          </a:prstGeo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50000"/>
              </a:lnSpc>
              <a:buNone/>
              <a:defRPr sz="1800" b="1" i="0" cap="all" spc="150" baseline="0">
                <a:solidFill>
                  <a:schemeClr val="tx2"/>
                </a:solidFill>
                <a:latin typeface="+mj-lt"/>
                <a:ea typeface="Meiryo UI" panose="020B0604030504040204" pitchFamily="34" charset="-128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54F0B191-C947-1640-8AD2-EEEAA1ED57C9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6501205" y="2038570"/>
            <a:ext cx="5042646" cy="703135"/>
          </a:xfrm>
          <a:prstGeom prst="rect">
            <a:avLst/>
          </a:prstGeo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50000"/>
              </a:lnSpc>
              <a:buNone/>
              <a:defRPr sz="1800" b="1" i="0" cap="all" spc="150" baseline="0">
                <a:solidFill>
                  <a:schemeClr val="tx2"/>
                </a:solidFill>
                <a:latin typeface="+mj-lt"/>
                <a:ea typeface="Meiryo UI" panose="020B0604030504040204" pitchFamily="34" charset="-128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8B92D52-6B55-2C4B-95E4-CE89611E590B}"/>
              </a:ext>
            </a:extLst>
          </p:cNvPr>
          <p:cNvCxnSpPr>
            <a:cxnSpLocks/>
          </p:cNvCxnSpPr>
          <p:nvPr userDrawn="1"/>
        </p:nvCxnSpPr>
        <p:spPr>
          <a:xfrm>
            <a:off x="6167716" y="1613647"/>
            <a:ext cx="0" cy="4904068"/>
          </a:xfrm>
          <a:prstGeom prst="line">
            <a:avLst/>
          </a:prstGeom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0F9EB4B-EC9F-404E-A98B-1EA3F6FF116A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38199" y="2894013"/>
            <a:ext cx="5042647" cy="30940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6">
            <a:extLst>
              <a:ext uri="{FF2B5EF4-FFF2-40B4-BE49-F238E27FC236}">
                <a16:creationId xmlns:a16="http://schemas.microsoft.com/office/drawing/2014/main" id="{7A648C0A-27FE-4582-8D3C-7FF280E14591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501205" y="2894013"/>
            <a:ext cx="5042647" cy="30940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159969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 and Caption">
    <p:bg>
      <p:bgPr>
        <a:solidFill>
          <a:schemeClr val="bg2">
            <a:alpha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4A22209-F6F4-814A-9719-87CDCD23C55F}"/>
              </a:ext>
            </a:extLst>
          </p:cNvPr>
          <p:cNvSpPr/>
          <p:nvPr userDrawn="1"/>
        </p:nvSpPr>
        <p:spPr>
          <a:xfrm>
            <a:off x="0" y="914400"/>
            <a:ext cx="12192000" cy="5029200"/>
          </a:xfrm>
          <a:prstGeom prst="rect">
            <a:avLst/>
          </a:prstGeom>
          <a:pattFill prst="lgGrid">
            <a:fgClr>
              <a:schemeClr val="tx2">
                <a:lumMod val="10000"/>
                <a:lumOff val="9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1817374-D7A2-2F4D-91C6-E24955F0018B}"/>
              </a:ext>
            </a:extLst>
          </p:cNvPr>
          <p:cNvSpPr/>
          <p:nvPr userDrawn="1"/>
        </p:nvSpPr>
        <p:spPr>
          <a:xfrm>
            <a:off x="5951621" y="1803214"/>
            <a:ext cx="6240379" cy="325288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9FBA462-7E60-BA4E-9A1E-3B5E69DACB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CCE73A-EC7C-C74F-BDE1-B9AFE6B3713A}" type="datetimeFigureOut">
              <a:rPr lang="en-US" noProof="0" smtClean="0"/>
              <a:t>11/30/2023</a:t>
            </a:fld>
            <a:endParaRPr lang="en-US" noProof="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18A28A8-5C75-FC4B-9A28-8F343DF4B1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FD5A6F-AE17-4E4C-9567-DB3B02853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05D35-D126-3B47-A82C-2A13EA9E0A67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656FB1BA-653F-254C-9C39-2A5BDD763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4545" y="2028031"/>
            <a:ext cx="5058209" cy="583800"/>
          </a:xfrm>
          <a:prstGeom prst="rect">
            <a:avLst/>
          </a:prstGeom>
        </p:spPr>
        <p:txBody>
          <a:bodyPr lIns="91440" rIns="91440">
            <a:noAutofit/>
          </a:bodyPr>
          <a:lstStyle>
            <a:lvl1pPr>
              <a:defRPr sz="2400" b="1" i="0" spc="150" baseline="0">
                <a:solidFill>
                  <a:schemeClr val="tx1"/>
                </a:solidFill>
                <a:latin typeface="+mj-lt"/>
                <a:ea typeface="Meiryo UI" panose="020B0604030504040204" pitchFamily="34" charset="-128"/>
              </a:defRPr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13" name="Picture Placeholder 10">
            <a:extLst>
              <a:ext uri="{FF2B5EF4-FFF2-40B4-BE49-F238E27FC236}">
                <a16:creationId xmlns:a16="http://schemas.microsoft.com/office/drawing/2014/main" id="{AD5E91DA-7D30-8C45-9BE7-5F82AA824B1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42925" y="0"/>
            <a:ext cx="5408696" cy="6858000"/>
          </a:xfrm>
          <a:prstGeom prst="rect">
            <a:avLst/>
          </a:prstGeom>
          <a:solidFill>
            <a:schemeClr val="tx1"/>
          </a:solidFill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94B5840-E92F-4CFE-B3C0-0873B2740891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494463" y="2611438"/>
            <a:ext cx="5058291" cy="2165350"/>
          </a:xfrm>
        </p:spPr>
        <p:txBody>
          <a:bodyPr/>
          <a:lstStyle>
            <a:lvl1pPr marL="0" indent="0">
              <a:lnSpc>
                <a:spcPct val="200000"/>
              </a:lnSpc>
              <a:spcBef>
                <a:spcPts val="1900"/>
              </a:spcBef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208486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chemeClr val="accent4">
            <a:alpha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9FBA462-7E60-BA4E-9A1E-3B5E69DACB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CCE73A-EC7C-C74F-BDE1-B9AFE6B3713A}" type="datetimeFigureOut">
              <a:rPr lang="en-US" smtClean="0"/>
              <a:t>11/30/2023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18A28A8-5C75-FC4B-9A28-8F343DF4B1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FD5A6F-AE17-4E4C-9567-DB3B02853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05D35-D126-3B47-A82C-2A13EA9E0A6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77179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9EAC25-66D1-1245-97FD-3B58401328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2069B3-0468-584A-914E-91C8C91C7F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BDB421-E3C9-A140-878A-F3A967799A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492875"/>
            <a:ext cx="2743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CCE73A-EC7C-C74F-BDE1-B9AFE6B3713A}" type="datetimeFigureOut">
              <a:rPr lang="en-US" smtClean="0"/>
              <a:pPr/>
              <a:t>11/30/2023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7A988C-554B-E64F-A698-DE3EF9CA07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92875"/>
            <a:ext cx="41148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8157E6-BBF7-AB4A-B5DD-B39A65C17B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492875"/>
            <a:ext cx="2743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705D35-D126-3B47-A82C-2A13EA9E0A6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63087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4" r:id="rId1"/>
    <p:sldLayoutId id="2147483725" r:id="rId2"/>
    <p:sldLayoutId id="2147483726" r:id="rId3"/>
    <p:sldLayoutId id="2147483727" r:id="rId4"/>
    <p:sldLayoutId id="2147483730" r:id="rId5"/>
    <p:sldLayoutId id="2147483729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Meiryo UI" panose="020B0604030504040204" pitchFamily="34" charset="-128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1500"/>
        </a:spcBef>
        <a:buClr>
          <a:schemeClr val="accent2"/>
        </a:buClr>
        <a:buFont typeface="Wingdings" panose="05000000000000000000" pitchFamily="2" charset="2"/>
        <a:buChar char="§"/>
        <a:defRPr sz="1500" kern="1200" spc="150" baseline="0">
          <a:solidFill>
            <a:schemeClr val="tx1"/>
          </a:solidFill>
          <a:latin typeface="+mn-lt"/>
          <a:ea typeface="Meiryo UI" panose="020B0604030504040204" pitchFamily="34" charset="-128"/>
          <a:cs typeface="+mn-cs"/>
        </a:defRPr>
      </a:lvl1pPr>
      <a:lvl2pPr marL="685800" indent="-228600" algn="l" defTabSz="914400" rtl="0" eaLnBrk="1" latinLnBrk="0" hangingPunct="1">
        <a:lnSpc>
          <a:spcPct val="150000"/>
        </a:lnSpc>
        <a:spcBef>
          <a:spcPts val="500"/>
        </a:spcBef>
        <a:buClr>
          <a:schemeClr val="accent2"/>
        </a:buClr>
        <a:buFont typeface="Wingdings" panose="05000000000000000000" pitchFamily="2" charset="2"/>
        <a:buChar char="§"/>
        <a:defRPr sz="1500" kern="1200" spc="150" baseline="0">
          <a:solidFill>
            <a:schemeClr val="tx1"/>
          </a:solidFill>
          <a:latin typeface="+mn-lt"/>
          <a:ea typeface="Meiryo UI" panose="020B0604030504040204" pitchFamily="34" charset="-128"/>
          <a:cs typeface="+mn-cs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ts val="500"/>
        </a:spcBef>
        <a:buClr>
          <a:schemeClr val="accent2"/>
        </a:buClr>
        <a:buFont typeface="Wingdings" panose="05000000000000000000" pitchFamily="2" charset="2"/>
        <a:buChar char="§"/>
        <a:defRPr sz="1400" kern="1200" spc="150" baseline="0">
          <a:solidFill>
            <a:schemeClr val="tx1"/>
          </a:solidFill>
          <a:latin typeface="+mn-lt"/>
          <a:ea typeface="Meiryo UI" panose="020B0604030504040204" pitchFamily="34" charset="-128"/>
          <a:cs typeface="+mn-cs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ts val="500"/>
        </a:spcBef>
        <a:buClr>
          <a:schemeClr val="accent2"/>
        </a:buClr>
        <a:buFont typeface="Wingdings" panose="05000000000000000000" pitchFamily="2" charset="2"/>
        <a:buChar char="§"/>
        <a:defRPr sz="1400" kern="1200" spc="150" baseline="0">
          <a:solidFill>
            <a:schemeClr val="tx1"/>
          </a:solidFill>
          <a:latin typeface="+mn-lt"/>
          <a:ea typeface="Meiryo UI" panose="020B0604030504040204" pitchFamily="34" charset="-128"/>
          <a:cs typeface="+mn-cs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ts val="500"/>
        </a:spcBef>
        <a:buClr>
          <a:schemeClr val="accent2"/>
        </a:buClr>
        <a:buFont typeface="Wingdings" panose="05000000000000000000" pitchFamily="2" charset="2"/>
        <a:buChar char="§"/>
        <a:defRPr sz="1400" kern="1200" spc="150" baseline="0">
          <a:solidFill>
            <a:schemeClr val="tx1"/>
          </a:solidFill>
          <a:latin typeface="+mn-lt"/>
          <a:ea typeface="Meiryo UI" panose="020B0604030504040204" pitchFamily="34" charset="-128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5" Type="http://schemas.openxmlformats.org/officeDocument/2006/relationships/hyperlink" Target="https://creativecommons.org/licenses/by-nd/3.0/" TargetMode="External"/><Relationship Id="rId4" Type="http://schemas.openxmlformats.org/officeDocument/2006/relationships/hyperlink" Target="https://www.students4bestevidence.net/blog/2015/07/24/nominal-ordinal-numerical-variables/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chart" Target="../charts/char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D3BB2B7-A83A-4015-92BD-4080BC4FD7E7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267075"/>
            <a:ext cx="5651500" cy="1087438"/>
          </a:xfrm>
        </p:spPr>
        <p:txBody>
          <a:bodyPr/>
          <a:lstStyle/>
          <a:p>
            <a:r>
              <a:rPr lang="en-US" sz="4800" dirty="0"/>
              <a:t>HR ANALYTICS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A41CAF-9D90-4203-BE4A-53EA37304B99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0" y="4354513"/>
            <a:ext cx="5651500" cy="703262"/>
          </a:xfrm>
        </p:spPr>
        <p:txBody>
          <a:bodyPr/>
          <a:lstStyle/>
          <a:p>
            <a:r>
              <a:rPr lang="en-US" dirty="0"/>
              <a:t>KPI no-4</a:t>
            </a:r>
          </a:p>
        </p:txBody>
      </p:sp>
      <p:pic>
        <p:nvPicPr>
          <p:cNvPr id="11" name="Picture Placeholder 10">
            <a:extLst>
              <a:ext uri="{FF2B5EF4-FFF2-40B4-BE49-F238E27FC236}">
                <a16:creationId xmlns:a16="http://schemas.microsoft.com/office/drawing/2014/main" id="{16B88011-CD86-A2B4-0981-A00E5A6F576F}"/>
              </a:ext>
            </a:extLst>
          </p:cNvPr>
          <p:cNvPicPr>
            <a:picLocks noGrp="1" noChangeAspect="1"/>
          </p:cNvPicPr>
          <p:nvPr>
            <p:ph type="pic" sz="quarter" idx="4294967295"/>
          </p:nvPr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22402" r="22402"/>
          <a:stretch>
            <a:fillRect/>
          </a:stretch>
        </p:blipFill>
        <p:spPr>
          <a:xfrm>
            <a:off x="5922963" y="0"/>
            <a:ext cx="6269037" cy="6858000"/>
          </a:xfr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AC832FC-4CFF-C26A-0574-949805FB8DFE}"/>
              </a:ext>
            </a:extLst>
          </p:cNvPr>
          <p:cNvSpPr txBox="1"/>
          <p:nvPr/>
        </p:nvSpPr>
        <p:spPr>
          <a:xfrm>
            <a:off x="5923125" y="6858000"/>
            <a:ext cx="626887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mr-IN" sz="900">
                <a:hlinkClick r:id="rId4" tooltip="https://www.students4bestevidence.net/blog/2015/07/24/nominal-ordinal-numerical-variables/"/>
              </a:rPr>
              <a:t>This Photo</a:t>
            </a:r>
            <a:r>
              <a:rPr lang="mr-IN" sz="900"/>
              <a:t> by Unknown Author is licensed under </a:t>
            </a:r>
            <a:r>
              <a:rPr lang="mr-IN" sz="900">
                <a:hlinkClick r:id="rId5" tooltip="https://creativecommons.org/licenses/by-nd/3.0/"/>
              </a:rPr>
              <a:t>CC BY-ND</a:t>
            </a:r>
            <a:endParaRPr lang="mr-IN" sz="900"/>
          </a:p>
        </p:txBody>
      </p:sp>
    </p:spTree>
    <p:extLst>
      <p:ext uri="{BB962C8B-B14F-4D97-AF65-F5344CB8AC3E}">
        <p14:creationId xmlns:p14="http://schemas.microsoft.com/office/powerpoint/2010/main" val="3611426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010FB232-4CB4-C34D-A688-C51B6E7CD2C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484188"/>
            <a:ext cx="10904538" cy="582612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HR ANALYTICS KPI CHART</a:t>
            </a:r>
          </a:p>
        </p:txBody>
      </p:sp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96179FF4-75F9-38EA-0D1B-3CA06A46CE1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80068259"/>
              </p:ext>
            </p:extLst>
          </p:nvPr>
        </p:nvGraphicFramePr>
        <p:xfrm>
          <a:off x="1670050" y="1066800"/>
          <a:ext cx="7997825" cy="518175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8494355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Content Placeholder 22">
            <a:extLst>
              <a:ext uri="{FF2B5EF4-FFF2-40B4-BE49-F238E27FC236}">
                <a16:creationId xmlns:a16="http://schemas.microsoft.com/office/drawing/2014/main" id="{3E408D6E-B51C-CD4F-AC1A-15EC32AAB74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353175" y="672453"/>
            <a:ext cx="4791075" cy="6185547"/>
          </a:xfrm>
        </p:spPr>
        <p:txBody>
          <a:bodyPr>
            <a:normAutofit fontScale="25000" lnSpcReduction="20000"/>
          </a:bodyPr>
          <a:lstStyle/>
          <a:p>
            <a:pPr algn="l">
              <a:buFont typeface="+mj-lt"/>
              <a:buAutoNum type="arabicPeriod"/>
            </a:pPr>
            <a:r>
              <a:rPr lang="en-US" sz="5600" b="1" i="0" dirty="0">
                <a:solidFill>
                  <a:srgbClr val="374151"/>
                </a:solidFill>
                <a:effectLst/>
                <a:latin typeface="Söhne"/>
              </a:rPr>
              <a:t>Income Group Variation:</a:t>
            </a:r>
            <a:endParaRPr lang="en-US" sz="5600" b="0" i="0" dirty="0">
              <a:solidFill>
                <a:srgbClr val="374151"/>
              </a:solidFill>
              <a:effectLst/>
              <a:latin typeface="Söhne"/>
            </a:endParaRPr>
          </a:p>
          <a:p>
            <a:pPr lvl="1" algn="l">
              <a:buFont typeface="Wingdings" panose="05000000000000000000" pitchFamily="2" charset="2"/>
              <a:buChar char="Ø"/>
            </a:pPr>
            <a:r>
              <a:rPr lang="en-US" sz="5600" b="0" i="0" dirty="0">
                <a:solidFill>
                  <a:srgbClr val="374151"/>
                </a:solidFill>
                <a:effectLst/>
                <a:latin typeface="Söhne"/>
              </a:rPr>
              <a:t>The attrition rates vary significantly across income groups. The lowest attrition rate is observed in the 41k-60k income group (21.86%), while the 21k-40k income group has the highest attrition rate (40.12%).</a:t>
            </a:r>
          </a:p>
          <a:p>
            <a:pPr algn="l">
              <a:buFont typeface="+mj-lt"/>
              <a:buAutoNum type="arabicPeriod"/>
            </a:pPr>
            <a:r>
              <a:rPr lang="en-US" sz="5600" b="1" i="0" dirty="0">
                <a:solidFill>
                  <a:srgbClr val="374151"/>
                </a:solidFill>
                <a:effectLst/>
                <a:latin typeface="Söhne"/>
              </a:rPr>
              <a:t>Middle-Income Strain:</a:t>
            </a:r>
            <a:endParaRPr lang="en-US" sz="5600" b="0" i="0" dirty="0">
              <a:solidFill>
                <a:srgbClr val="374151"/>
              </a:solidFill>
              <a:effectLst/>
              <a:latin typeface="Söhne"/>
            </a:endParaRPr>
          </a:p>
          <a:p>
            <a:pPr lvl="1" algn="l">
              <a:buFont typeface="Wingdings" panose="05000000000000000000" pitchFamily="2" charset="2"/>
              <a:buChar char="Ø"/>
            </a:pPr>
            <a:r>
              <a:rPr lang="en-US" sz="5600" b="0" i="0" dirty="0">
                <a:solidFill>
                  <a:srgbClr val="374151"/>
                </a:solidFill>
                <a:effectLst/>
                <a:latin typeface="Söhne"/>
              </a:rPr>
              <a:t>The 21k-40k income group experiences the highest attrition, indicating potential challenges or dissatisfaction within this salary range. Understanding the reasons behind this trend is crucial for retention and talent management.</a:t>
            </a:r>
          </a:p>
          <a:p>
            <a:pPr algn="l">
              <a:buFont typeface="+mj-lt"/>
              <a:buAutoNum type="arabicPeriod"/>
            </a:pPr>
            <a:r>
              <a:rPr lang="en-US" sz="5600" b="1" i="0" dirty="0">
                <a:solidFill>
                  <a:srgbClr val="374151"/>
                </a:solidFill>
                <a:effectLst/>
                <a:latin typeface="Söhne"/>
              </a:rPr>
              <a:t>Stability in Higher Income Bracket:</a:t>
            </a:r>
            <a:endParaRPr lang="en-US" sz="5600" b="0" i="0" dirty="0">
              <a:solidFill>
                <a:srgbClr val="374151"/>
              </a:solidFill>
              <a:effectLst/>
              <a:latin typeface="Söhne"/>
            </a:endParaRPr>
          </a:p>
          <a:p>
            <a:pPr lvl="1" algn="l">
              <a:buFont typeface="Wingdings" panose="05000000000000000000" pitchFamily="2" charset="2"/>
              <a:buChar char="Ø"/>
            </a:pPr>
            <a:r>
              <a:rPr lang="en-US" sz="5600" b="0" i="0" dirty="0">
                <a:solidFill>
                  <a:srgbClr val="374151"/>
                </a:solidFill>
                <a:effectLst/>
                <a:latin typeface="Söhne"/>
              </a:rPr>
              <a:t>The 41k-60k income group shows a comparatively lower attrition rate. This suggests that employees in this income range may find the compensation and benefits more satisfactory or are potentially more engaged in their roles.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sz="1900" b="0" i="0" dirty="0">
              <a:solidFill>
                <a:srgbClr val="374151"/>
              </a:solidFill>
              <a:effectLst/>
              <a:latin typeface="Söhne"/>
            </a:endParaRPr>
          </a:p>
        </p:txBody>
      </p:sp>
      <p:sp>
        <p:nvSpPr>
          <p:cNvPr id="21" name="Title 20">
            <a:extLst>
              <a:ext uri="{FF2B5EF4-FFF2-40B4-BE49-F238E27FC236}">
                <a16:creationId xmlns:a16="http://schemas.microsoft.com/office/drawing/2014/main" id="{4095A0CF-E335-0C44-AB23-48EE18153C8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429375" y="88253"/>
            <a:ext cx="4791075" cy="584200"/>
          </a:xfrm>
        </p:spPr>
        <p:txBody>
          <a:bodyPr>
            <a:normAutofit fontScale="90000"/>
          </a:bodyPr>
          <a:lstStyle/>
          <a:p>
            <a:r>
              <a:rPr lang="en-US" dirty="0"/>
              <a:t>Observations</a:t>
            </a:r>
          </a:p>
        </p:txBody>
      </p:sp>
      <p:graphicFrame>
        <p:nvGraphicFramePr>
          <p:cNvPr id="5" name="Picture Placeholder 4">
            <a:extLst>
              <a:ext uri="{FF2B5EF4-FFF2-40B4-BE49-F238E27FC236}">
                <a16:creationId xmlns:a16="http://schemas.microsoft.com/office/drawing/2014/main" id="{CB735C11-4023-9534-13DB-D62739CCAA55}"/>
              </a:ext>
            </a:extLst>
          </p:cNvPr>
          <p:cNvGraphicFramePr>
            <a:graphicFrameLocks noGrp="1"/>
          </p:cNvGraphicFramePr>
          <p:nvPr>
            <p:ph type="pic" sz="quarter" idx="4294967295"/>
            <p:extLst>
              <p:ext uri="{D42A27DB-BD31-4B8C-83A1-F6EECF244321}">
                <p14:modId xmlns:p14="http://schemas.microsoft.com/office/powerpoint/2010/main" val="2589853750"/>
              </p:ext>
            </p:extLst>
          </p:nvPr>
        </p:nvGraphicFramePr>
        <p:xfrm>
          <a:off x="0" y="571500"/>
          <a:ext cx="5553075" cy="5715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7C293019-D9EE-E6EE-50DE-E9215EF705A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86984413"/>
              </p:ext>
            </p:extLst>
          </p:nvPr>
        </p:nvGraphicFramePr>
        <p:xfrm>
          <a:off x="-739775" y="1028625"/>
          <a:ext cx="6721475" cy="518175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37288192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3A1EDC-CF41-4438-BB57-18569B953129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0" y="1470024"/>
            <a:ext cx="10912475" cy="4903787"/>
          </a:xfrm>
        </p:spPr>
        <p:txBody>
          <a:bodyPr>
            <a:normAutofit/>
          </a:bodyPr>
          <a:lstStyle/>
          <a:p>
            <a:pPr algn="l">
              <a:buFont typeface="+mj-lt"/>
              <a:buAutoNum type="arabicPeriod"/>
            </a:pPr>
            <a:r>
              <a:rPr lang="en-US" b="1" i="0" dirty="0">
                <a:solidFill>
                  <a:srgbClr val="374151"/>
                </a:solidFill>
                <a:effectLst/>
                <a:latin typeface="Söhne"/>
              </a:rPr>
              <a:t>Retention Strategies for Middle-Income Group:</a:t>
            </a:r>
            <a:endParaRPr lang="en-US" b="0" i="0" dirty="0">
              <a:solidFill>
                <a:srgbClr val="374151"/>
              </a:solidFill>
              <a:effectLst/>
              <a:latin typeface="Söhne"/>
            </a:endParaRPr>
          </a:p>
          <a:p>
            <a:pPr lvl="1" algn="l">
              <a:buFont typeface="Wingdings" panose="05000000000000000000" pitchFamily="2" charset="2"/>
              <a:buChar char="Ø"/>
            </a:pP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Investigate the factors contributing to high attrition in the 21k-40k income group. Implement targeted retention strategies such as salary adjustments, enhanced benefits, or career development opportunities to address the identified issues.</a:t>
            </a:r>
          </a:p>
          <a:p>
            <a:pPr algn="l">
              <a:buFont typeface="+mj-lt"/>
              <a:buAutoNum type="arabicPeriod"/>
            </a:pPr>
            <a:r>
              <a:rPr lang="en-US" b="1" i="0" dirty="0">
                <a:solidFill>
                  <a:srgbClr val="374151"/>
                </a:solidFill>
                <a:effectLst/>
                <a:latin typeface="Söhne"/>
              </a:rPr>
              <a:t>Employee Engagement Initiatives:</a:t>
            </a:r>
            <a:endParaRPr lang="en-US" b="0" i="0" dirty="0">
              <a:solidFill>
                <a:srgbClr val="374151"/>
              </a:solidFill>
              <a:effectLst/>
              <a:latin typeface="Söhne"/>
            </a:endParaRPr>
          </a:p>
          <a:p>
            <a:pPr lvl="1" algn="l">
              <a:buFont typeface="Wingdings" panose="05000000000000000000" pitchFamily="2" charset="2"/>
              <a:buChar char="Ø"/>
            </a:pP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Focus on initiatives to boost employee engagement, particularly in the middle-income bracket. This could involve regular feedback sessions, recognition programs, and creating a positive work culture to improve job satisfaction.</a:t>
            </a:r>
          </a:p>
          <a:p>
            <a:pPr algn="l">
              <a:buFont typeface="+mj-lt"/>
              <a:buAutoNum type="arabicPeriod"/>
            </a:pPr>
            <a:r>
              <a:rPr lang="en-US" b="1" i="0" dirty="0">
                <a:solidFill>
                  <a:srgbClr val="374151"/>
                </a:solidFill>
                <a:effectLst/>
                <a:latin typeface="Söhne"/>
              </a:rPr>
              <a:t>Competitive Compensation Analysis:</a:t>
            </a:r>
            <a:endParaRPr lang="en-US" b="0" i="0" dirty="0">
              <a:solidFill>
                <a:srgbClr val="374151"/>
              </a:solidFill>
              <a:effectLst/>
              <a:latin typeface="Söhne"/>
            </a:endParaRPr>
          </a:p>
          <a:p>
            <a:pPr lvl="1" algn="l">
              <a:buFont typeface="Wingdings" panose="05000000000000000000" pitchFamily="2" charset="2"/>
              <a:buChar char="Ø"/>
            </a:pP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Conduct a competitive analysis of salaries in the market for the 21k-40k income range. Ensure that your organization remains competitive in terms of compensation to attract and retain talent within this crucial segment.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b="0" i="0" dirty="0">
              <a:solidFill>
                <a:srgbClr val="374151"/>
              </a:solidFill>
              <a:effectLst/>
              <a:latin typeface="Sitka Small Semibold" pitchFamily="2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FB284A-573D-46BB-8DDB-1E198A12A19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484188"/>
            <a:ext cx="10904538" cy="582612"/>
          </a:xfrm>
        </p:spPr>
        <p:txBody>
          <a:bodyPr>
            <a:normAutofit fontScale="90000"/>
          </a:bodyPr>
          <a:lstStyle/>
          <a:p>
            <a:r>
              <a:rPr lang="en-US" dirty="0"/>
              <a:t>Suggestions</a:t>
            </a:r>
          </a:p>
        </p:txBody>
      </p:sp>
    </p:spTree>
    <p:extLst>
      <p:ext uri="{BB962C8B-B14F-4D97-AF65-F5344CB8AC3E}">
        <p14:creationId xmlns:p14="http://schemas.microsoft.com/office/powerpoint/2010/main" val="1459366218"/>
      </p:ext>
    </p:extLst>
  </p:cSld>
  <p:clrMapOvr>
    <a:masterClrMapping/>
  </p:clrMapOvr>
</p:sld>
</file>

<file path=ppt/theme/theme1.xml><?xml version="1.0" encoding="utf-8"?>
<a:theme xmlns:a="http://schemas.openxmlformats.org/drawingml/2006/main" name="Minimal and Muted_ALT">
  <a:themeElements>
    <a:clrScheme name="Japan 2">
      <a:dk1>
        <a:srgbClr val="231B23"/>
      </a:dk1>
      <a:lt1>
        <a:srgbClr val="FCF5E5"/>
      </a:lt1>
      <a:dk2>
        <a:srgbClr val="231B23"/>
      </a:dk2>
      <a:lt2>
        <a:srgbClr val="FCF5E5"/>
      </a:lt2>
      <a:accent1>
        <a:srgbClr val="FDA431"/>
      </a:accent1>
      <a:accent2>
        <a:srgbClr val="4DA1A8"/>
      </a:accent2>
      <a:accent3>
        <a:srgbClr val="D7E7BA"/>
      </a:accent3>
      <a:accent4>
        <a:srgbClr val="FCF5E5"/>
      </a:accent4>
      <a:accent5>
        <a:srgbClr val="231B23"/>
      </a:accent5>
      <a:accent6>
        <a:srgbClr val="EECED3"/>
      </a:accent6>
      <a:hlink>
        <a:srgbClr val="FCA330"/>
      </a:hlink>
      <a:folHlink>
        <a:srgbClr val="4DA1A8"/>
      </a:folHlink>
    </a:clrScheme>
    <a:fontScheme name="Japanese Template">
      <a:majorFont>
        <a:latin typeface="Meiryo UI"/>
        <a:ea typeface=""/>
        <a:cs typeface=""/>
      </a:majorFont>
      <a:minorFont>
        <a:latin typeface="Meiryo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2" id="{5D9CFDCE-107C-4BA4-BAF5-1A16F67739C2}" vid="{98006FC8-790D-4EF4-A18C-2AD650A2781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Japanese business presentation</Template>
  <TotalTime>109</TotalTime>
  <Words>283</Words>
  <Application>Microsoft Office PowerPoint</Application>
  <PresentationFormat>Widescreen</PresentationFormat>
  <Paragraphs>26</Paragraphs>
  <Slides>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2" baseType="lpstr">
      <vt:lpstr>Meiryo</vt:lpstr>
      <vt:lpstr>Meiryo UI</vt:lpstr>
      <vt:lpstr>Arial</vt:lpstr>
      <vt:lpstr>Calibri</vt:lpstr>
      <vt:lpstr>Sitka Small Semibold</vt:lpstr>
      <vt:lpstr>Söhne</vt:lpstr>
      <vt:lpstr>Wingdings</vt:lpstr>
      <vt:lpstr>Minimal and Muted_ALT</vt:lpstr>
      <vt:lpstr>HR ANALYTICS</vt:lpstr>
      <vt:lpstr>HR ANALYTICS KPI CHART</vt:lpstr>
      <vt:lpstr>Observations</vt:lpstr>
      <vt:lpstr>Suggestions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HR ANALYTICS</dc:title>
  <dc:creator>ajay sankpal</dc:creator>
  <cp:lastModifiedBy>ajay sankpal</cp:lastModifiedBy>
  <cp:revision>4</cp:revision>
  <dcterms:created xsi:type="dcterms:W3CDTF">2023-11-28T14:06:47Z</dcterms:created>
  <dcterms:modified xsi:type="dcterms:W3CDTF">2023-11-30T17:12:33Z</dcterms:modified>
</cp:coreProperties>
</file>