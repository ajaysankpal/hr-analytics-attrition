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6"/>
  </p:notesMasterIdLst>
  <p:handoutMasterIdLst>
    <p:handoutMasterId r:id="rId7"/>
  </p:handoutMasterIdLst>
  <p:sldIdLst>
    <p:sldId id="296" r:id="rId2"/>
    <p:sldId id="301" r:id="rId3"/>
    <p:sldId id="298" r:id="rId4"/>
    <p:sldId id="29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551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>
                <a:solidFill>
                  <a:srgbClr val="FF0000"/>
                </a:solidFill>
              </a:rPr>
              <a:t>Attrition Rate Vs year since last promotion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mr-IN"/>
        </a:p>
      </c:txPr>
    </c:title>
    <c:autoTitleDeleted val="0"/>
    <c:plotArea>
      <c:layout>
        <c:manualLayout>
          <c:layoutTarget val="inner"/>
          <c:xMode val="edge"/>
          <c:yMode val="edge"/>
          <c:x val="0.28733286862365703"/>
          <c:y val="0.24283934137321533"/>
          <c:w val="0.37293239099380143"/>
          <c:h val="0.5756061995259903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F89F-4EAF-9EE3-582420DF81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9F-4EAF-9EE3-582420DF81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89F-4EAF-9EE3-582420DF81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9F-4EAF-9EE3-582420DF8186}"/>
              </c:ext>
            </c:extLst>
          </c:dPt>
          <c:dLbls>
            <c:dLbl>
              <c:idx val="0"/>
              <c:layout>
                <c:manualLayout>
                  <c:x val="-0.19052642437162604"/>
                  <c:y val="-0.1714096258195347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9F-4EAF-9EE3-582420DF8186}"/>
                </c:ext>
              </c:extLst>
            </c:dLbl>
            <c:dLbl>
              <c:idx val="1"/>
              <c:layout>
                <c:manualLayout>
                  <c:x val="-5.0818066161737722E-2"/>
                  <c:y val="2.22343759860325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9F-4EAF-9EE3-582420DF8186}"/>
                </c:ext>
              </c:extLst>
            </c:dLbl>
            <c:dLbl>
              <c:idx val="2"/>
              <c:layout>
                <c:manualLayout>
                  <c:x val="3.3523676749616302E-2"/>
                  <c:y val="-4.154638075044516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9F-4EAF-9EE3-582420DF8186}"/>
                </c:ext>
              </c:extLst>
            </c:dLbl>
            <c:dLbl>
              <c:idx val="3"/>
              <c:layout>
                <c:manualLayout>
                  <c:x val="0.20535926955140929"/>
                  <c:y val="4.321820944310137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9F-4EAF-9EE3-582420DF8186}"/>
                </c:ext>
              </c:extLst>
            </c:dLbl>
            <c:spPr>
              <a:solidFill>
                <a:schemeClr val="accent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mr-I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1-10 Years</c:v>
                </c:pt>
                <c:pt idx="1">
                  <c:v>11-20 Years</c:v>
                </c:pt>
                <c:pt idx="2">
                  <c:v>21-30 Years</c:v>
                </c:pt>
                <c:pt idx="3">
                  <c:v>31-40 years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0.82525393347938658</c:v>
                </c:pt>
                <c:pt idx="1">
                  <c:v>0.13654650468034257</c:v>
                </c:pt>
                <c:pt idx="2">
                  <c:v>3.3698466440948018E-2</c:v>
                </c:pt>
                <c:pt idx="3">
                  <c:v>4.501095399322844E-3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9F-4EAF-9EE3-582420DF8186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mr-I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>
                <a:solidFill>
                  <a:srgbClr val="FF0000"/>
                </a:solidFill>
              </a:rPr>
              <a:t>Attrition Rate Vs year since last promotion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mr-IN"/>
        </a:p>
      </c:txPr>
    </c:title>
    <c:autoTitleDeleted val="0"/>
    <c:plotArea>
      <c:layout>
        <c:manualLayout>
          <c:layoutTarget val="inner"/>
          <c:xMode val="edge"/>
          <c:yMode val="edge"/>
          <c:x val="0.28733286862365703"/>
          <c:y val="0.24283934137321533"/>
          <c:w val="0.37293239099380143"/>
          <c:h val="0.5756061995259903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4A-4F12-9831-8E55700427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4A-4F12-9831-8E55700427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4A-4F12-9831-8E55700427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4A-4F12-9831-8E55700427A9}"/>
              </c:ext>
            </c:extLst>
          </c:dPt>
          <c:dLbls>
            <c:dLbl>
              <c:idx val="0"/>
              <c:layout>
                <c:manualLayout>
                  <c:x val="-0.19052642437162604"/>
                  <c:y val="-0.1714096258195347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4A-4F12-9831-8E55700427A9}"/>
                </c:ext>
              </c:extLst>
            </c:dLbl>
            <c:dLbl>
              <c:idx val="1"/>
              <c:layout>
                <c:manualLayout>
                  <c:x val="-5.0818066161737722E-2"/>
                  <c:y val="2.22343759860325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4A-4F12-9831-8E55700427A9}"/>
                </c:ext>
              </c:extLst>
            </c:dLbl>
            <c:dLbl>
              <c:idx val="2"/>
              <c:layout>
                <c:manualLayout>
                  <c:x val="3.3523676749616302E-2"/>
                  <c:y val="-4.154638075044516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B4A-4F12-9831-8E55700427A9}"/>
                </c:ext>
              </c:extLst>
            </c:dLbl>
            <c:dLbl>
              <c:idx val="3"/>
              <c:layout>
                <c:manualLayout>
                  <c:x val="0.20535926955140929"/>
                  <c:y val="4.321820944310137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B4A-4F12-9831-8E55700427A9}"/>
                </c:ext>
              </c:extLst>
            </c:dLbl>
            <c:spPr>
              <a:solidFill>
                <a:schemeClr val="accent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mr-I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1-10 Years</c:v>
                </c:pt>
                <c:pt idx="1">
                  <c:v>11-20 Years</c:v>
                </c:pt>
                <c:pt idx="2">
                  <c:v>21-30 Years</c:v>
                </c:pt>
                <c:pt idx="3">
                  <c:v>31-40 years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0.82525393347938658</c:v>
                </c:pt>
                <c:pt idx="1">
                  <c:v>0.13654650468034257</c:v>
                </c:pt>
                <c:pt idx="2">
                  <c:v>3.3698466440948018E-2</c:v>
                </c:pt>
                <c:pt idx="3">
                  <c:v>4.501095399322844E-3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4A-4F12-9831-8E55700427A9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mr-I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11/28/2023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11/28/2023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1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66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06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C33A90-B87E-634E-AF2A-F4C3C8923FED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47E0E-4AE4-D149-A315-F2528623D5EA}"/>
              </a:ext>
            </a:extLst>
          </p:cNvPr>
          <p:cNvSpPr/>
          <p:nvPr userDrawn="1"/>
        </p:nvSpPr>
        <p:spPr>
          <a:xfrm>
            <a:off x="763425" y="2818150"/>
            <a:ext cx="6207001" cy="25718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8430" y="3267744"/>
            <a:ext cx="5651293" cy="1086304"/>
          </a:xfrm>
          <a:prstGeom prst="rect">
            <a:avLst/>
          </a:prstGeom>
        </p:spPr>
        <p:txBody>
          <a:bodyPr lIns="91440" rIns="91440" anchor="ctr" anchorCtr="0">
            <a:noAutofit/>
          </a:bodyPr>
          <a:lstStyle>
            <a:lvl1pPr algn="l">
              <a:defRPr sz="88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8F278E7-697F-D34E-BB55-5D254AF87F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3125" y="0"/>
            <a:ext cx="6268875" cy="6858000"/>
          </a:xfrm>
          <a:custGeom>
            <a:avLst/>
            <a:gdLst>
              <a:gd name="connsiteX0" fmla="*/ 0 w 6268875"/>
              <a:gd name="connsiteY0" fmla="*/ 0 h 6858000"/>
              <a:gd name="connsiteX1" fmla="*/ 6268875 w 6268875"/>
              <a:gd name="connsiteY1" fmla="*/ 0 h 6858000"/>
              <a:gd name="connsiteX2" fmla="*/ 6268875 w 6268875"/>
              <a:gd name="connsiteY2" fmla="*/ 6858000 h 6858000"/>
              <a:gd name="connsiteX3" fmla="*/ 0 w 6268875"/>
              <a:gd name="connsiteY3" fmla="*/ 6858000 h 6858000"/>
              <a:gd name="connsiteX4" fmla="*/ 0 w 6268875"/>
              <a:gd name="connsiteY4" fmla="*/ 5389964 h 6858000"/>
              <a:gd name="connsiteX5" fmla="*/ 1047301 w 6268875"/>
              <a:gd name="connsiteY5" fmla="*/ 5389964 h 6858000"/>
              <a:gd name="connsiteX6" fmla="*/ 1047301 w 6268875"/>
              <a:gd name="connsiteY6" fmla="*/ 2814404 h 6858000"/>
              <a:gd name="connsiteX7" fmla="*/ 0 w 6268875"/>
              <a:gd name="connsiteY7" fmla="*/ 28144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8875" h="6858000">
                <a:moveTo>
                  <a:pt x="0" y="0"/>
                </a:moveTo>
                <a:lnTo>
                  <a:pt x="6268875" y="0"/>
                </a:lnTo>
                <a:lnTo>
                  <a:pt x="6268875" y="6858000"/>
                </a:lnTo>
                <a:lnTo>
                  <a:pt x="0" y="6858000"/>
                </a:lnTo>
                <a:lnTo>
                  <a:pt x="0" y="5389964"/>
                </a:lnTo>
                <a:lnTo>
                  <a:pt x="1047301" y="5389964"/>
                </a:lnTo>
                <a:lnTo>
                  <a:pt x="1047301" y="2814404"/>
                </a:lnTo>
                <a:lnTo>
                  <a:pt x="0" y="281440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4261" y="4354048"/>
            <a:ext cx="5651500" cy="704088"/>
          </a:xfrm>
        </p:spPr>
        <p:txBody>
          <a:bodyPr anchor="ctr">
            <a:normAutofit/>
          </a:bodyPr>
          <a:lstStyle>
            <a:lvl1pPr marL="0" indent="0">
              <a:buNone/>
              <a:defRPr sz="2400" b="1" i="0" cap="all" spc="600" baseline="0"/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79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11/28/2023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B69B4E-3A48-4F14-8C09-ECC8E58C73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763" y="1470025"/>
            <a:ext cx="1090408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3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7C56A2-F952-8343-A875-78793BA51A34}"/>
              </a:ext>
            </a:extLst>
          </p:cNvPr>
          <p:cNvSpPr/>
          <p:nvPr userDrawn="1"/>
        </p:nvSpPr>
        <p:spPr>
          <a:xfrm>
            <a:off x="0" y="5871694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B3689-72F8-2345-BF30-38C81BDD487E}"/>
              </a:ext>
            </a:extLst>
          </p:cNvPr>
          <p:cNvSpPr/>
          <p:nvPr userDrawn="1"/>
        </p:nvSpPr>
        <p:spPr>
          <a:xfrm>
            <a:off x="5002306" y="0"/>
            <a:ext cx="7189694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11/28/2023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117" y="681037"/>
            <a:ext cx="4791637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B2BF900-EE78-604F-A9A8-83394228A6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571500"/>
            <a:ext cx="5553075" cy="5715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4C04996-C3BC-4E03-A361-2BA33F3CA3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61163" y="1265238"/>
            <a:ext cx="4791591" cy="4911725"/>
          </a:xfrm>
        </p:spPr>
        <p:txBody>
          <a:bodyPr/>
          <a:lstStyle>
            <a:lvl1pPr>
              <a:lnSpc>
                <a:spcPct val="200000"/>
              </a:lnSpc>
              <a:spcBef>
                <a:spcPts val="1000"/>
              </a:spcBef>
              <a:buClrTx/>
              <a:defRPr/>
            </a:lvl1pPr>
            <a:lvl2pPr>
              <a:lnSpc>
                <a:spcPct val="200000"/>
              </a:lnSpc>
              <a:spcBef>
                <a:spcPts val="1000"/>
              </a:spcBef>
              <a:buClrTx/>
              <a:defRPr/>
            </a:lvl2pPr>
            <a:lvl3pPr>
              <a:lnSpc>
                <a:spcPct val="200000"/>
              </a:lnSpc>
              <a:spcBef>
                <a:spcPts val="1000"/>
              </a:spcBef>
              <a:buClrTx/>
              <a:defRPr/>
            </a:lvl3pPr>
            <a:lvl4pPr>
              <a:lnSpc>
                <a:spcPct val="200000"/>
              </a:lnSpc>
              <a:spcBef>
                <a:spcPts val="1000"/>
              </a:spcBef>
              <a:buClrTx/>
              <a:defRPr/>
            </a:lvl4pPr>
            <a:lvl5pPr>
              <a:lnSpc>
                <a:spcPct val="200000"/>
              </a:lnSpc>
              <a:spcBef>
                <a:spcPts val="1000"/>
              </a:spcBef>
              <a:buClrTx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926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2F96941-79C9-A34B-8AB5-C167A4D72D51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noProof="0" smtClean="0"/>
              <a:t>11/28/2023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noProof="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F811A9-08B1-C746-B30D-69D7B4A6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tx2"/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4F0B191-C947-1640-8AD2-EEEAA1ED57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tx2"/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92D52-6B55-2C4B-95E4-CE89611E590B}"/>
              </a:ext>
            </a:extLst>
          </p:cNvPr>
          <p:cNvCxnSpPr>
            <a:cxnSpLocks/>
          </p:cNvCxnSpPr>
          <p:nvPr userDrawn="1"/>
        </p:nvCxnSpPr>
        <p:spPr>
          <a:xfrm>
            <a:off x="6167716" y="1613647"/>
            <a:ext cx="0" cy="4904068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F9EB4B-EC9F-404E-A98B-1EA3F6FF11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199" y="2894013"/>
            <a:ext cx="5042647" cy="3094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A648C0A-27FE-4582-8D3C-7FF280E1459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2894013"/>
            <a:ext cx="5042647" cy="3094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599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apti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A22209-F6F4-814A-9719-87CDCD23C55F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17374-D7A2-2F4D-91C6-E24955F0018B}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noProof="0" smtClean="0"/>
              <a:t>11/28/2023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545" y="2028031"/>
            <a:ext cx="5058209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5E91DA-7D30-8C45-9BE7-5F82AA824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0"/>
            <a:ext cx="5408696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B5840-E92F-4CFE-B3C0-0873B274089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4463" y="2611438"/>
            <a:ext cx="5058291" cy="2165350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19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084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E73A-EC7C-C74F-BDE1-B9AFE6B3713A}" type="datetimeFigureOut">
              <a:rPr lang="en-US" smtClean="0"/>
              <a:t>11/28/2023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1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CE73A-EC7C-C74F-BDE1-B9AFE6B3713A}" type="datetimeFigureOut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30" r:id="rId5"/>
    <p:sldLayoutId id="214748372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s://www.students4bestevidence.net/blog/2015/07/24/nominal-ordinal-numerical-variable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3BB2B7-A83A-4015-92BD-4080BC4F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HR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41CAF-9D90-4203-BE4A-53EA37304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KPI no-6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6B88011-CD86-A2B4-0981-A00E5A6F576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402" r="22402"/>
          <a:stretch>
            <a:fillRect/>
          </a:stretch>
        </p:blipFill>
        <p:spPr/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832FC-4CFF-C26A-0574-949805FB8DFE}"/>
              </a:ext>
            </a:extLst>
          </p:cNvPr>
          <p:cNvSpPr txBox="1"/>
          <p:nvPr/>
        </p:nvSpPr>
        <p:spPr>
          <a:xfrm>
            <a:off x="5923125" y="6858000"/>
            <a:ext cx="6268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900">
                <a:hlinkClick r:id="rId4" tooltip="https://www.students4bestevidence.net/blog/2015/07/24/nominal-ordinal-numerical-variables/"/>
              </a:rPr>
              <a:t>This Photo</a:t>
            </a:r>
            <a:r>
              <a:rPr lang="mr-IN" sz="900"/>
              <a:t> by Unknown Author is licensed under </a:t>
            </a:r>
            <a:r>
              <a:rPr lang="mr-IN" sz="900">
                <a:hlinkClick r:id="rId5" tooltip="https://creativecommons.org/licenses/by-nd/3.0/"/>
              </a:rPr>
              <a:t>CC BY-ND</a:t>
            </a:r>
            <a:endParaRPr lang="mr-IN" sz="900"/>
          </a:p>
        </p:txBody>
      </p:sp>
    </p:spTree>
    <p:extLst>
      <p:ext uri="{BB962C8B-B14F-4D97-AF65-F5344CB8AC3E}">
        <p14:creationId xmlns:p14="http://schemas.microsoft.com/office/powerpoint/2010/main" val="36114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HR ANALYTICS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6179FF4-75F9-38EA-0D1B-3CA06A46C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055228"/>
              </p:ext>
            </p:extLst>
          </p:nvPr>
        </p:nvGraphicFramePr>
        <p:xfrm>
          <a:off x="1955800" y="2057400"/>
          <a:ext cx="7997825" cy="518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4943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3E408D6E-B51C-CD4F-AC1A-15EC32AAB7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19827" y="758023"/>
            <a:ext cx="4791636" cy="5593163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Attrition Distribution:</a:t>
            </a:r>
            <a:endParaRPr lang="en-US" b="0" i="0" dirty="0">
              <a:solidFill>
                <a:srgbClr val="374151"/>
              </a:solidFill>
              <a:effectLst/>
              <a:latin typeface="Sitka Heading Semibold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The majority of attrition occurs in the 1-10 years category, suggesting that employees within this range are more likely to leave the company.</a:t>
            </a:r>
            <a:endParaRPr lang="en-US" sz="1600" b="0" i="0" dirty="0">
              <a:solidFill>
                <a:srgbClr val="374151"/>
              </a:solidFill>
              <a:effectLst/>
              <a:latin typeface="Sitka Heading Semibold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Long-Term Employees: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b="0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There is a significant drop in attrition for employees with 11-20 years, indicating that long-term employees are relatively more stable.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Senior Employees:</a:t>
            </a:r>
            <a:endParaRPr lang="en-US" sz="1700" b="0" i="0" dirty="0">
              <a:solidFill>
                <a:srgbClr val="374151"/>
              </a:solidFill>
              <a:effectLst/>
              <a:latin typeface="Sitka Heading Semibold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b="0" i="0" dirty="0">
                <a:solidFill>
                  <a:srgbClr val="374151"/>
                </a:solidFill>
                <a:effectLst/>
                <a:latin typeface="Sitka Heading Semibold" pitchFamily="2" charset="0"/>
              </a:rPr>
              <a:t>Attrition further decreases for employees with 21-30 years and 31-40 years, implying that senior employees are less likely to leave</a:t>
            </a:r>
            <a:r>
              <a:rPr lang="en-US" sz="19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095A0CF-E335-0C44-AB23-48EE1815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892" y="157163"/>
            <a:ext cx="4791637" cy="583800"/>
          </a:xfrm>
        </p:spPr>
        <p:txBody>
          <a:bodyPr/>
          <a:lstStyle/>
          <a:p>
            <a:r>
              <a:rPr lang="en-US" dirty="0"/>
              <a:t>Observations</a:t>
            </a:r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CB735C11-4023-9534-13DB-D62739CCAA55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906072501"/>
              </p:ext>
            </p:extLst>
          </p:nvPr>
        </p:nvGraphicFramePr>
        <p:xfrm>
          <a:off x="0" y="571500"/>
          <a:ext cx="5553075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2881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A1EDC-CF41-4438-BB57-18569B95312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9247" y="1469745"/>
            <a:ext cx="10913505" cy="4707218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Retention Strategies for Junior Employees:</a:t>
            </a:r>
            <a:endParaRPr lang="en-US" b="0" i="0" dirty="0">
              <a:solidFill>
                <a:srgbClr val="374151"/>
              </a:solidFill>
              <a:effectLst/>
              <a:latin typeface="Sitka Small Semibold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Implement targeted retention programs for employees with 1-10 years of experience, as they seem to be more prone to attrition. This could include mentorship programs, professional development opportunities, or improved work-life balance initiatives.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Recognition for Long-Term Employees:</a:t>
            </a:r>
            <a:endParaRPr lang="en-US" b="0" i="0" dirty="0">
              <a:solidFill>
                <a:srgbClr val="374151"/>
              </a:solidFill>
              <a:effectLst/>
              <a:latin typeface="Sitka Small Semibold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Acknowledge and reward employees with 11-20 years of service to enhance job satisfaction and loyalty. Recognition programs or career development opportunities can be effective.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Senior Employee Engagement:</a:t>
            </a:r>
            <a:endParaRPr lang="en-US" b="0" i="0" dirty="0">
              <a:solidFill>
                <a:srgbClr val="374151"/>
              </a:solidFill>
              <a:effectLst/>
              <a:latin typeface="Sitka Small Semibold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itka Small Semibold" pitchFamily="2" charset="0"/>
              </a:rPr>
              <a:t>Focus on maintaining a positive work environment for senior employees with 21-40 years of experience. Consider personalized benefits, flexible work arrangements, and continued professional growth opportunities.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B284A-573D-46BB-8DDB-1E198A12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145936621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and Muted_ALT">
  <a:themeElements>
    <a:clrScheme name="Japan 2">
      <a:dk1>
        <a:srgbClr val="231B23"/>
      </a:dk1>
      <a:lt1>
        <a:srgbClr val="FCF5E5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D7E7BA"/>
      </a:accent3>
      <a:accent4>
        <a:srgbClr val="FCF5E5"/>
      </a:accent4>
      <a:accent5>
        <a:srgbClr val="231B23"/>
      </a:accent5>
      <a:accent6>
        <a:srgbClr val="EECED3"/>
      </a:accent6>
      <a:hlink>
        <a:srgbClr val="FCA330"/>
      </a:hlink>
      <a:folHlink>
        <a:srgbClr val="4DA1A8"/>
      </a:folHlink>
    </a:clrScheme>
    <a:fontScheme name="Japanese Template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D9CFDCE-107C-4BA4-BAF5-1A16F67739C2}" vid="{98006FC8-790D-4EF4-A18C-2AD650A278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Japanese business presentation</Template>
  <TotalTime>76</TotalTime>
  <Words>246</Words>
  <Application>Microsoft Office PowerPoint</Application>
  <PresentationFormat>Widescreen</PresentationFormat>
  <Paragraphs>31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Meiryo</vt:lpstr>
      <vt:lpstr>Meiryo UI</vt:lpstr>
      <vt:lpstr>Arial</vt:lpstr>
      <vt:lpstr>Calibri</vt:lpstr>
      <vt:lpstr>Sitka Heading Semibold</vt:lpstr>
      <vt:lpstr>Sitka Small Semibold</vt:lpstr>
      <vt:lpstr>Söhne</vt:lpstr>
      <vt:lpstr>Wingdings</vt:lpstr>
      <vt:lpstr>Minimal and Muted_ALT</vt:lpstr>
      <vt:lpstr>HR ANALYTICS</vt:lpstr>
      <vt:lpstr>HR ANALYTICS</vt:lpstr>
      <vt:lpstr>Observations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</dc:title>
  <dc:creator>ajay sankpal</dc:creator>
  <cp:lastModifiedBy>ajay sankpal</cp:lastModifiedBy>
  <cp:revision>1</cp:revision>
  <dcterms:created xsi:type="dcterms:W3CDTF">2023-11-28T14:06:47Z</dcterms:created>
  <dcterms:modified xsi:type="dcterms:W3CDTF">2023-11-28T15:22:53Z</dcterms:modified>
</cp:coreProperties>
</file>